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ERP allocated</c:v>
                </c:pt>
              </c:strCache>
            </c:strRef>
          </c:tx>
          <c:spPr>
            <a:solidFill>
              <a:srgbClr val="1F4E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SO-18455 Cascade</c:v>
                </c:pt>
                <c:pt idx="1">
                  <c:v>SO-18463 Summit</c:v>
                </c:pt>
                <c:pt idx="2">
                  <c:v>SO-18480 Alpine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420</c:v>
                </c:pt>
                <c:pt idx="1">
                  <c:v>310</c:v>
                </c:pt>
                <c:pt idx="2">
                  <c:v>260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DE-48AB-BCB2-173C935B2C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WMS picked/packed</c:v>
                </c:pt>
              </c:strCache>
            </c:strRef>
          </c:tx>
          <c:spPr>
            <a:solidFill>
              <a:srgbClr val="12A15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SO-18455 Cascade</c:v>
                </c:pt>
                <c:pt idx="1">
                  <c:v>SO-18463 Summit</c:v>
                </c:pt>
                <c:pt idx="2">
                  <c:v>SO-18480 Alpine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420</c:v>
                </c:pt>
                <c:pt idx="1">
                  <c:v>180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0DE-48AB-BCB2-173C935B2CE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1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answer: the root cause is an inventory status failure, not a transport problem. Note: 390 = 990 allocated minus 600 picked/available; it is the measured shortfall (130 on SO-18463 + 260 on SO-18480).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ERP = business transactions; WMS = physical inventory and warehouse execution; TMS = transportation and POD. Gates 3/4 (availability, allocation) and 5/6 (shipment confirmation) are the breached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Earliest provable divergence: receipt confirmed 11:18 with 300 units awaiting putaway, then ERP Goods Receipt posted all 900 as Available at 11:32. Customer symptoms surface hours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MECE classification the brief asked for. Do not treat every discrepancy as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 order: SO-18455 420/420; SO-18463 180/310 (−130); SO-18480 0/260 (−260). 130 + 260 = 390.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Root cause (red) → downstream effects (grey). Contributing factors in amber. The SH-90218-to-sales-order mapping is not in the packet, so Alpine Direct's miss is attributed to the zero pick, not to SH-90218.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follows breadth of customer, inventory and financial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items on this slide are recommendations. The 5% threshold in the original report is illustrative and not supported by the packet.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Horizon grouping is analytical judgment. The source material provides no implementation dates, owners beyond the report's roles, costs or KPIs, so none are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levers: status controls, cross-system validation, exception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4325-8835-895C-7DE5-A276AC718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13C02D-31CB-FB0C-ABB9-15C4D68B4D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4C344-2262-0368-E81C-2DAC2CC89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AAE4C-3B54-DC86-AE65-373CFEB99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13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AeroBottle service disruption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status failure at the WMS ERP boundary drove partial shipments, a missed delivery and invoice disputes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investigation | Supply Chain Operations | Evidence window: Mon 08:00 – Thu 18:00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390 units over allocation, rooted in 300 staged units never made available, caused the customer and invoice impact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2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allocated by ERP (3 orders)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251460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A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WMS could actually pick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390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short: SO-18463 130, SO-18480 260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1143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3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14h 23m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169164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SH-90218 departure lag vs SH-90211 (18:42 → 09:05)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377440"/>
            <a:ext cx="173736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103120" y="2377440"/>
            <a:ext cx="667512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194560" y="2377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received units posted Available in ERP (11:32) while 300 were still awaiting putaway; ERP allocated 990 at 12:45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2926080"/>
            <a:ext cx="1737360" cy="457200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5760" y="292608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breakdown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103120" y="2926080"/>
            <a:ext cx="667512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194560" y="292608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closed SH-90218 at 18:21 with no load confirmation, carrier assigned 08:20 next day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3474720"/>
            <a:ext cx="1737360" cy="457200"/>
          </a:xfrm>
          <a:prstGeom prst="rect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576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103120" y="3474720"/>
            <a:ext cx="667512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94560" y="3474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units cycle count in Pick Zone B (12:45–15:00) restricted allocation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" y="4023360"/>
            <a:ext cx="173736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5760" y="4023360"/>
            <a:ext cx="17373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now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103120" y="4023360"/>
            <a:ext cx="6675120" cy="4572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94560" y="402336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availability gate, shipment-closure control, daily ERP WMS reconciliation, owned escalation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depends on seven control gates between ERP, WMS and TMS, two of them were breached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3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143000"/>
            <a:ext cx="2651760" cy="365760"/>
          </a:xfrm>
          <a:prstGeom prst="rect">
            <a:avLst/>
          </a:prstGeom>
          <a:solidFill>
            <a:srgbClr val="1F4EE5"/>
          </a:solidFill>
          <a:ln w="12700">
            <a:solidFill>
              <a:srgbClr val="1F4E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PO, supplier confirmation, ATP allocation, invoicing, order closure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51760" cy="365760"/>
          </a:xfrm>
          <a:prstGeom prst="rect">
            <a:avLst/>
          </a:prstGeom>
          <a:solidFill>
            <a:srgbClr val="12A150"/>
          </a:solidFill>
          <a:ln w="12700">
            <a:solidFill>
              <a:srgbClr val="12A1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Receiving, putaway, inventory status, pick/pack/load, shipment confirmation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26480" y="1143000"/>
            <a:ext cx="2651760" cy="365760"/>
          </a:xfrm>
          <a:prstGeom prst="rect">
            <a:avLst/>
          </a:prstGeom>
          <a:solidFill>
            <a:srgbClr val="7B3FE4"/>
          </a:solidFill>
          <a:ln w="12700">
            <a:solidFill>
              <a:srgbClr val="7B3F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1143000"/>
            <a:ext cx="26517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TMS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planning, carrier tender, tracking, POD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2148840"/>
            <a:ext cx="320040" cy="292608"/>
          </a:xfrm>
          <a:prstGeom prst="rect">
            <a:avLst/>
          </a:prstGeom>
          <a:solidFill>
            <a:srgbClr val="12A150"/>
          </a:solidFill>
          <a:ln w="12700">
            <a:solidFill>
              <a:srgbClr val="12A1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" y="2148840"/>
            <a:ext cx="320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" y="2148840"/>
            <a:ext cx="5486400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21488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confirmed by supplier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6263640" y="21488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A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65760" y="2514600"/>
            <a:ext cx="320040" cy="292608"/>
          </a:xfrm>
          <a:prstGeom prst="rect">
            <a:avLst/>
          </a:prstGeom>
          <a:solidFill>
            <a:srgbClr val="12A150"/>
          </a:solidFill>
          <a:ln w="12700">
            <a:solidFill>
              <a:srgbClr val="12A1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5760" y="2514600"/>
            <a:ext cx="320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85800" y="2514600"/>
            <a:ext cx="5486400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25146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recorded in WMS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6263640" y="2514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A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65760" y="2880360"/>
            <a:ext cx="32004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65760" y="2880360"/>
            <a:ext cx="320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5800" y="2880360"/>
            <a:ext cx="5486400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288036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in Available status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2880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65760" y="3246120"/>
            <a:ext cx="32004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5760" y="3246120"/>
            <a:ext cx="320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85800" y="3246120"/>
            <a:ext cx="5486400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77240" y="32461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allocates only available stock</a:t>
            </a:r>
            <a:endParaRPr lang="en-US" sz="1050" dirty="0"/>
          </a:p>
        </p:txBody>
      </p:sp>
      <p:sp>
        <p:nvSpPr>
          <p:cNvPr id="35" name="Text 32"/>
          <p:cNvSpPr txBox="1"/>
          <p:nvPr/>
        </p:nvSpPr>
        <p:spPr>
          <a:xfrm>
            <a:off x="6263640" y="32461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65760" y="3611880"/>
            <a:ext cx="32004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65760" y="3611880"/>
            <a:ext cx="320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685800" y="3611880"/>
            <a:ext cx="5486400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77240" y="361188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Picked, packed, loaded before shipment confirmation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263640" y="36118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365760" y="3977640"/>
            <a:ext cx="32004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365760" y="3977640"/>
            <a:ext cx="320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685800" y="3977640"/>
            <a:ext cx="5486400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777240" y="3977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confirmation reaches TMS before carrier events</a:t>
            </a:r>
            <a:endParaRPr lang="en-US" sz="1050" dirty="0"/>
          </a:p>
        </p:txBody>
      </p:sp>
      <p:sp>
        <p:nvSpPr>
          <p:cNvPr id="45" name="Text 42"/>
          <p:cNvSpPr txBox="1"/>
          <p:nvPr/>
        </p:nvSpPr>
        <p:spPr>
          <a:xfrm>
            <a:off x="6263640" y="39776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Breached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365760" y="4343400"/>
            <a:ext cx="320040" cy="292608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365760" y="4343400"/>
            <a:ext cx="32004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85800" y="4343400"/>
            <a:ext cx="5486400" cy="292608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77240" y="43434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→ ERP before invoice / closure</a:t>
            </a:r>
            <a:endParaRPr lang="en-US" sz="1050" dirty="0"/>
          </a:p>
        </p:txBody>
      </p:sp>
      <p:sp>
        <p:nvSpPr>
          <p:cNvPr id="50" name="Text 47"/>
          <p:cNvSpPr txBox="1"/>
          <p:nvPr/>
        </p:nvSpPr>
        <p:spPr>
          <a:xfrm>
            <a:off x="6263640" y="43434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only – resolved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diverged at 11:18–11:32 on Tuesday, well before any customer or carrier symptom appeared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194560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188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11:18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4356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receipt confirmed (900), 300 left in Staging S4, no putaway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084832" y="2194560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19072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11:32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719072" y="28072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posts 900 as Available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46704" y="2194560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80944" y="1188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12:45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2980944" y="14356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allocates 990; cycle count starts (180 restr.)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08576" y="2194560"/>
            <a:ext cx="182880" cy="182880"/>
          </a:xfrm>
          <a:prstGeom prst="ellipse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242816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13:00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42816" y="28072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900 vs WMS 600 Available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870448" y="2194560"/>
            <a:ext cx="182880" cy="182880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504688" y="1188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18:21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504688" y="14356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SH-90218 closed, no load confirmation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132320" y="2194560"/>
            <a:ext cx="182880" cy="182880"/>
          </a:xfrm>
          <a:prstGeom prst="ellipse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766560" y="2560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08:20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766560" y="28072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BluePeak assigned (Horizon rejected)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394192" y="2194560"/>
            <a:ext cx="182880" cy="182880"/>
          </a:xfrm>
          <a:prstGeom prst="ellipse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01000" y="11887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14:18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1435608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for SH-90211; ERP "Awaiting Update"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65760" y="3840480"/>
            <a:ext cx="8412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PO confirmation reached ERP 90 min after supplier (09:40→11:10); 300 kits Shipment B (Wed 14:00) was pre-announced in the ASN, neither is a failure.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seven cross system differences are genuine failures, three are normal synchronization or planned splits, one is a downstream effect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5</a:t>
            </a:r>
            <a:endParaRPr lang="en-US" sz="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7738292"/>
              </p:ext>
            </p:extLst>
          </p:nvPr>
        </p:nvGraphicFramePr>
        <p:xfrm>
          <a:off x="365760" y="1143000"/>
          <a:ext cx="8412480" cy="307238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 vs ASN vs GR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 ordered, ASN 900 + 300, 900 received, PO "Partially Received"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split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confirm → ERP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09:40 → 11:10 (90 min)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delay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→ ERP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 14:18, ERP "Awaiting Update", later SO-18455 Delivered/Invoiced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 delay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A1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vs WMS availability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ERP 900 vs WMS 600 Available + 300 Staged at 13:00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vs execution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990 allocated, picked 420 / 180 / 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SH-90218 closure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18:21, no load confirmation, LD-772 rejected, LD-773 accepted 08:20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Genuine failure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SO-18463 On Hold, SO-18480 Not Invoiced, 2 disputes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effect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promised 990 units but the warehouse could fulfil only 600, leaving two customers short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6</a:t>
            </a:r>
            <a:endParaRPr lang="en-US" sz="8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1143000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5943600" y="1234440"/>
            <a:ext cx="868680" cy="201168"/>
          </a:xfrm>
          <a:prstGeom prst="rect">
            <a:avLst/>
          </a:prstGeom>
          <a:solidFill>
            <a:srgbClr val="12A150"/>
          </a:solidFill>
          <a:ln w="12700">
            <a:solidFill>
              <a:srgbClr val="12A15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0" y="1234440"/>
            <a:ext cx="868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148132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300 + Available 600 in WMS at 13:00; ERP showed 900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943600" y="2240280"/>
            <a:ext cx="868680" cy="201168"/>
          </a:xfrm>
          <a:prstGeom prst="rect">
            <a:avLst/>
          </a:prstGeom>
          <a:solidFill>
            <a:srgbClr val="12A150"/>
          </a:solidFill>
          <a:ln w="12700">
            <a:solidFill>
              <a:srgbClr val="12A15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0" y="2240280"/>
            <a:ext cx="868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5943600" y="248716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exception: staged stock not Available; Pick Zone B restricted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943600" y="3246120"/>
            <a:ext cx="868680" cy="201168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43600" y="3246120"/>
            <a:ext cx="868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800" dirty="0"/>
          </a:p>
        </p:txBody>
      </p:sp>
      <p:sp>
        <p:nvSpPr>
          <p:cNvPr id="16" name="Text 12"/>
          <p:cNvSpPr txBox="1"/>
          <p:nvPr/>
        </p:nvSpPr>
        <p:spPr>
          <a:xfrm>
            <a:off x="5943600" y="349300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390 shortfall = 130 + 260, the 300 staged units are its primary driver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cause, one secondary breakdown and one contributor explain every customer and finance symptom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1920240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280160"/>
            <a:ext cx="1920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300 not Available; ERP posted 900 Available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651760"/>
            <a:ext cx="1920240" cy="822960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" y="2651760"/>
            <a:ext cx="1920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restricts 180 units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0" y="1737360"/>
            <a:ext cx="182880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43200" y="1737360"/>
            <a:ext cx="1828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over-allocates 990 vs 600 fulfillable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0" y="1143000"/>
            <a:ext cx="182880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029200" y="114300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SO-18463 short 130 (Summit)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1920240"/>
            <a:ext cx="1828800" cy="640080"/>
          </a:xfrm>
          <a:prstGeom prst="rect">
            <a:avLst/>
          </a:prstGeom>
          <a:solidFill>
            <a:srgbClr val="F2F4F7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SO-18480 zero picked (Alpine)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23760" y="1143000"/>
            <a:ext cx="155448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23760" y="114300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hold SO-18463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223760" y="1920240"/>
            <a:ext cx="155448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192024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invoiced SO-18480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0" y="3200400"/>
            <a:ext cx="1828800" cy="822960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74320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SH-90218 closed without load confirmation (18:21)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029200" y="3200400"/>
            <a:ext cx="1828800" cy="822960"/>
          </a:xfrm>
          <a:prstGeom prst="rect">
            <a:avLst/>
          </a:prstGeom>
          <a:solidFill>
            <a:srgbClr val="F2F4F7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029200" y="3200400"/>
            <a:ext cx="182880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reassigned +14h, departs 09:05 Wed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223760" y="3200400"/>
            <a:ext cx="155448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223760" y="320040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unvalidated, finance exception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286000" y="1737360"/>
            <a:ext cx="457200" cy="45720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V="1">
            <a:off x="2286000" y="2468880"/>
            <a:ext cx="457200" cy="54864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V="1">
            <a:off x="4572000" y="1463040"/>
            <a:ext cx="457200" cy="64008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4572000" y="2194560"/>
            <a:ext cx="457200" cy="4572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6858000" y="146304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6858000" y="224028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4572000" y="3611880"/>
            <a:ext cx="45720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6858000" y="3611880"/>
            <a:ext cx="365760" cy="0"/>
          </a:xfrm>
          <a:prstGeom prst="line">
            <a:avLst/>
          </a:prstGeom>
          <a:noFill/>
          <a:ln w="19050">
            <a:solidFill>
              <a:srgbClr val="5A6472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the 180-unit restriction was a documented contributor, its overlap with the 600 Available is not quantified in the packet.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status integrity is the top risk, shipment closure is second, cycle-count timing is a contributor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4800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Docs 5–15; Operational Review Report §3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548640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188720"/>
            <a:ext cx="548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14400" y="1188720"/>
            <a:ext cx="786384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11887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availability status failure  (High)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990 allocated vs 600 fulfillable, 2 complaints, 2 invoice disputes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2240280"/>
            <a:ext cx="548640" cy="9144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" y="2240280"/>
            <a:ext cx="548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914400" y="2240280"/>
            <a:ext cx="786384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" y="2240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closed without load confirmation  (High)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SH-90218 departs 14h23m after SH-90211, delivery not validated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291840"/>
            <a:ext cx="548640" cy="914400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5760" y="3291840"/>
            <a:ext cx="5486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914400" y="3291840"/>
            <a:ext cx="7863840" cy="9144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1560" y="329184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count during allocation window  (Medium)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180 units restricted 12:45–15:00, worsens shortfall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controls close the gaps, each tied to the failure it prevents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9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29260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staged / unconfirmed stock from ATP until Available or reason-coded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post ERP Goods Receipt as Available beyond putaway-confirmed quantity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 confirmation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 closure requires load confirmation; alert if TMS carrier acceptance missing in a set window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ERP vs WMS available vs allocated check; threshold to be defined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Reason-coded holds for staging and cycle-count restrictions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+ contributor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 &amp; escalation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WMS supervisor owns status; ERP planner owns allocation; ops manager on at-risk orders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allocation vs fulfillable gap and open unconfirmed shipments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480560"/>
            <a:ext cx="868680" cy="201168"/>
          </a:xfrm>
          <a:prstGeom prst="rect">
            <a:avLst/>
          </a:prstGeom>
          <a:solidFill>
            <a:srgbClr val="1F4EE5"/>
          </a:solidFill>
          <a:ln w="12700">
            <a:solidFill>
              <a:srgbClr val="1F4EE5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65760" y="4480560"/>
            <a:ext cx="868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 horizons sequence puts the status and closure gates first, then detection, then governance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269748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– Stop the bleed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691640"/>
            <a:ext cx="2697480" cy="2286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783080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unconfirmed staged stock from allocation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load confirmation before WMS shipment closure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cycle counts out of allocation windows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20040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– Detect early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1691640"/>
            <a:ext cx="2697480" cy="2286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91840" y="1783080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ERP–WMS reconciliation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unsynchronized shipment / carrier status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codes for restrictions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1188720"/>
            <a:ext cx="2697480" cy="502920"/>
          </a:xfrm>
          <a:prstGeom prst="rect">
            <a:avLst/>
          </a:prstGeom>
          <a:solidFill>
            <a:srgbClr val="1F4EE5"/>
          </a:solidFill>
          <a:ln w="12700">
            <a:solidFill>
              <a:srgbClr val="1F4EE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35040" y="1188720"/>
            <a:ext cx="26974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– Sustain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1691640"/>
            <a:ext cx="2697480" cy="228600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26480" y="1783080"/>
            <a:ext cx="2514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ownership and escalation triggers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allocation-gap monitoring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ERP ATP logic (990 vs 900)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4206240"/>
            <a:ext cx="868680" cy="20116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5760" y="4206240"/>
            <a:ext cx="8686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325880" y="42062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sequencing is our judgment, not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takeaway: a unit is not inventory until the warehouse says it is available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4800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6472"/>
                </a:solidFill>
              </a:rPr>
              <a:t>11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371600"/>
            <a:ext cx="2697480" cy="548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status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6576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200" dirty="0" err="1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putaway</a:t>
            </a: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confirmed Available stock reaches ERP allocation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1371600"/>
            <a:ext cx="2697480" cy="548640"/>
          </a:xfrm>
          <a:prstGeom prst="rect">
            <a:avLst/>
          </a:prstGeom>
          <a:solidFill>
            <a:srgbClr val="E8A100"/>
          </a:solidFill>
          <a:ln w="12700">
            <a:solidFill>
              <a:srgbClr val="E8A1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across systems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 ERP, WMS and TMS before shipments close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371600"/>
            <a:ext cx="2697480" cy="548640"/>
          </a:xfrm>
          <a:prstGeom prst="rect">
            <a:avLst/>
          </a:prstGeom>
          <a:solidFill>
            <a:srgbClr val="1F4EE5"/>
          </a:solidFill>
          <a:ln w="12700">
            <a:solidFill>
              <a:srgbClr val="1F4E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3504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exceptions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035040" y="20116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owners and escalation before customers are affected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65760" y="3200400"/>
            <a:ext cx="8412480" cy="8229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5760" y="3200400"/>
            <a:ext cx="8412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discrepancy is a failure, but a 300 units status gap left alone became 390 undelivered units.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66A292-1089-3B6E-F10B-71D434F3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5C614E-2275-32A2-F61A-7045F4F61525}"/>
              </a:ext>
            </a:extLst>
          </p:cNvPr>
          <p:cNvSpPr txBox="1"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</p:spTree>
    <p:extLst>
      <p:ext uri="{BB962C8B-B14F-4D97-AF65-F5344CB8AC3E}">
        <p14:creationId xmlns:p14="http://schemas.microsoft.com/office/powerpoint/2010/main" val="42798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1376</Words>
  <Application>Microsoft Office PowerPoint</Application>
  <PresentationFormat>On-screen Show (16:9)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ASUS K16</cp:lastModifiedBy>
  <cp:revision>3</cp:revision>
  <dcterms:created xsi:type="dcterms:W3CDTF">2026-10-07T07:30:35Z</dcterms:created>
  <dcterms:modified xsi:type="dcterms:W3CDTF">2026-10-08T08:31:30Z</dcterms:modified>
</cp:coreProperties>
</file>